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840480" cy="3840480"/>
          </a:xfrm>
          <a:prstGeom prst="ellipse">
            <a:avLst/>
          </a:prstGeom>
          <a:solidFill>
            <a:srgbClr val="244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244A6B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5029200"/>
            <a:ext cx="3108960" cy="3108960"/>
          </a:xfrm>
          <a:prstGeom prst="ellipse">
            <a:avLst/>
          </a:prstGeom>
          <a:solidFill>
            <a:srgbClr val="244A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STUDIO STRATEGY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Returns, International Reach &amp; Studio Benchmarks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7307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analysis of box office, budget, studio, and audience-rating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Kevin  |  Moringa School Data Science Program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9019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the studio needs answered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651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Cleaning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9992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ERD, and how the data was prepared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Findings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409651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return, international reach, and studio alignment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66928" cy="566928"/>
          </a:xfrm>
          <a:prstGeom prst="ellipse">
            <a:avLst/>
          </a:prstGeom>
          <a:solidFill>
            <a:srgbClr val="1E3D5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846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519379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studio should greenlight first</a:t>
            </a:r>
            <a:endParaRPr lang="en-US" sz="1250" dirty="0"/>
          </a:p>
        </p:txBody>
      </p:sp>
      <p:pic>
        <p:nvPicPr>
          <p:cNvPr id="19" name="Image 0" descr="images/viz1_genre_ro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17320"/>
            <a:ext cx="3794760" cy="242316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863840" y="411480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4251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1,042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138160" y="4892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theatrical releases analyzed, with studio + international gross data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STAKEHOLDER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27939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 our company's brand-new movie studio division.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6400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spending a dollar on production, leadership needs an evidence-based answer to three questions: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6858000" cy="1051560"/>
          </a:xfrm>
          <a:prstGeom prst="roundRect">
            <a:avLst>
              <a:gd name="adj" fmla="val 5217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2011680"/>
            <a:ext cx="411480" cy="411480"/>
          </a:xfrm>
          <a:prstGeom prst="ellipse">
            <a:avLst/>
          </a:prstGeom>
          <a:solidFill>
            <a:srgbClr val="FF6E40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691640"/>
            <a:ext cx="5852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deliver the best financial return? (ROI &amp; median profit)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6858000" cy="1051560"/>
          </a:xfrm>
          <a:prstGeom prst="roundRect">
            <a:avLst>
              <a:gd name="adj" fmla="val 5217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46120"/>
            <a:ext cx="411480" cy="411480"/>
          </a:xfrm>
          <a:prstGeom prst="ellipse">
            <a:avLst/>
          </a:prstGeom>
          <a:solidFill>
            <a:srgbClr val="FF6E4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926080"/>
            <a:ext cx="5852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do best with an international audience?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4160520"/>
            <a:ext cx="6858000" cy="1051560"/>
          </a:xfrm>
          <a:prstGeom prst="roundRect">
            <a:avLst>
              <a:gd name="adj" fmla="val 5217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4480560"/>
            <a:ext cx="411480" cy="411480"/>
          </a:xfrm>
          <a:prstGeom prst="ellipse">
            <a:avLst/>
          </a:prstGeom>
          <a:solidFill>
            <a:srgbClr val="FF6E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4160520"/>
            <a:ext cx="5852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studios perform best, and do they align with the top genres?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Used, and How We Cleaned It</a:t>
            </a:r>
            <a:endParaRPr lang="en-US" sz="2300" dirty="0"/>
          </a:p>
        </p:txBody>
      </p:sp>
      <p:pic>
        <p:nvPicPr>
          <p:cNvPr id="4" name="Image 0" descr="images/movie_data_e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39496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entity-relationship diagram (movie_basics + movie_ratings tables used)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172200" y="14630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7F7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15361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domestic/worldwide gross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3774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7F7F7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4505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Office Mojo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0" y="24505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Studio, foreign gross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32918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7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33649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0" y="33649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Genre(s), rating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2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STEPS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773168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46360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currency strings to numeric; parsed release dates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5157216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50200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$0 placeholder budgets and rows missing a studio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5541264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540410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all 3 sources on movie title + release year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2200" y="5925312"/>
            <a:ext cx="109728" cy="10972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57881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matches; engineered ROI, profit &amp; intl. share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QUESTION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Genres Deliver the Best Financial Return?</a:t>
            </a:r>
            <a:endParaRPr lang="en-US" sz="2300" dirty="0"/>
          </a:p>
        </p:txBody>
      </p:sp>
      <p:pic>
        <p:nvPicPr>
          <p:cNvPr id="4" name="Image 0" descr="images/viz1_genre_ro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0408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630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27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leads with a median ROI of 3.45x and median profit of $56.0M. Horror follows at 2.90x ROI ($42.3M median profit). Sci-Fi and Animation tie for third at 2.23x ROI, though Animation's median profit ($237.8M) is far higher due to bigger budgets and grosses.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41605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1E3D59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4325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645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Mystery &amp; Horror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0" y="512064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genres combine strong typical returns with modest average budgets — a lower-risk way to build an early, profitable track record.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QUESTION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Genres Do Best Internationally?</a:t>
            </a:r>
            <a:endParaRPr lang="en-US" sz="2300" dirty="0"/>
          </a:p>
        </p:txBody>
      </p:sp>
      <p:pic>
        <p:nvPicPr>
          <p:cNvPr id="4" name="Image 0" descr="images/viz2_genre_internat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0408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630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27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(65%), Fantasy (63%), Action (62%), Sci-Fi (62%), and Animation (61%) earn well over half their gross outside the U.S. — above the 52% all-genre median. Notably, Horror and Mystery (our top ROI genres) sit right around the median, meaning they don't especially over-index internationally.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41605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1E3D59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4325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645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Intl. Reach as a Separate Lever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0" y="512064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global/franchise ambitions, look to Adventure, Fantasy, Sci-Fi &amp; Animation — a different genre set than our top-ROI picks.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QUESTION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Top Studios Align with Top Genres?</a:t>
            </a:r>
            <a:endParaRPr lang="en-US" sz="2300" dirty="0"/>
          </a:p>
        </p:txBody>
      </p:sp>
      <p:pic>
        <p:nvPicPr>
          <p:cNvPr id="4" name="Image 0" descr="images/viz3_studio_alig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0408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6304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7F7F7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27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studios by median ROI are New Line (2.84x), P/DW (2.63x), Weinstein (2.53x), TriStar (2.46x), and Disney/BV (2.21x). But only 2 of those 5 exceed the market-average share of films in our top-5 ROI genres — 3 of the 5 best studios succeeded largely outside those genres.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41605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1E3D59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4325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4645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Execution, Not Just Genre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0" y="512064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success and genre choice are only loosely linked. Study New Line &amp; Weinstein's production and marketing playbook directly.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recommended strategy: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632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&amp; Horror films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3063240" cy="0"/>
          </a:xfrm>
          <a:prstGeom prst="line">
            <a:avLst/>
          </a:prstGeom>
          <a:noFill/>
          <a:ln w="12700">
            <a:solidFill>
              <a:srgbClr val="2C56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3.45x / 2.90x median ROI — lower-risk, high-return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6324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0916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GROWTH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31089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Adventure, Sci-Fi, Animation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09160" y="4114800"/>
            <a:ext cx="3063240" cy="0"/>
          </a:xfrm>
          <a:prstGeom prst="line">
            <a:avLst/>
          </a:prstGeom>
          <a:noFill/>
          <a:ln w="12700">
            <a:solidFill>
              <a:srgbClr val="2C56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42976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of gross earned outside the U.S.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87452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6324A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59536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31089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New Line &amp; Weinstein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95360" y="4114800"/>
            <a:ext cx="3063240" cy="0"/>
          </a:xfrm>
          <a:prstGeom prst="line">
            <a:avLst/>
          </a:prstGeom>
          <a:noFill/>
          <a:ln w="12700">
            <a:solidFill>
              <a:srgbClr val="2C56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429768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ROI studios that succeed outside the top genres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241280" cy="123444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interactive dashboard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91640" y="22860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Tableau dashboard so leadership can filter by genre and studio themselves.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0241280" cy="123444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429000"/>
            <a:ext cx="594360" cy="594360"/>
          </a:xfrm>
          <a:prstGeom prst="ellipse">
            <a:avLst/>
          </a:prstGeom>
          <a:solidFill>
            <a:srgbClr val="FF6E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27355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additional levers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91640" y="370332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release timing/season and marketing spend, which this dataset doesn't yet capture.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0241280" cy="123444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846320"/>
            <a:ext cx="594360" cy="594360"/>
          </a:xfrm>
          <a:prstGeom prst="ellipse">
            <a:avLst/>
          </a:prstGeom>
          <a:solidFill>
            <a:srgbClr val="FFC1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46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69087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critic scores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91640" y="51206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Rotten Tomatoes critic ratings once a reliable join key is available, to add a quality dimension.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389120"/>
            <a:ext cx="3291840" cy="3291840"/>
          </a:xfrm>
          <a:prstGeom prst="ellipse">
            <a:avLst/>
          </a:prstGeom>
          <a:solidFill>
            <a:srgbClr val="244A6B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244A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linkedin.com/in/kevin-profile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kevin@example.com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Studio 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2026-08-18T05:21:41Z</dcterms:created>
  <dcterms:modified xsi:type="dcterms:W3CDTF">2026-08-18T05:21:41Z</dcterms:modified>
</cp:coreProperties>
</file>